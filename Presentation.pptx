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Richard\Book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/>
              <a:t>Feature</a:t>
            </a:r>
            <a:r>
              <a:rPr lang="en-US" sz="1200" b="1" baseline="0"/>
              <a:t> Selection Vs. Entire Dataset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Feature-Selected Dataset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98C-49FF-9DEC-8CC4DFE6A4F5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8C-49FF-9DEC-8CC4DFE6A4F5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98C-49FF-9DEC-8CC4DFE6A4F5}"/>
                </c:ext>
              </c:extLst>
            </c:dLbl>
            <c:dLbl>
              <c:idx val="3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98C-49FF-9DEC-8CC4DFE6A4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99.4</c:v>
                </c:pt>
                <c:pt idx="1">
                  <c:v>99.12</c:v>
                </c:pt>
                <c:pt idx="2">
                  <c:v>99.76</c:v>
                </c:pt>
                <c:pt idx="3">
                  <c:v>99.44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8C-49FF-9DEC-8CC4DFE6A4F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Entire Dataset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99.28</c:v>
                </c:pt>
                <c:pt idx="1">
                  <c:v>99.01</c:v>
                </c:pt>
                <c:pt idx="2">
                  <c:v>99.63</c:v>
                </c:pt>
                <c:pt idx="3">
                  <c:v>99.32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8C-49FF-9DEC-8CC4DFE6A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276409144"/>
        <c:axId val="276413736"/>
      </c:barChart>
      <c:catAx>
        <c:axId val="276409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413736"/>
        <c:crosses val="autoZero"/>
        <c:auto val="1"/>
        <c:lblAlgn val="ctr"/>
        <c:lblOffset val="100"/>
        <c:noMultiLvlLbl val="0"/>
      </c:catAx>
      <c:valAx>
        <c:axId val="276413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409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24524320167798422"/>
          <c:y val="0.91186948872535345"/>
          <c:w val="0.55477764838068999"/>
          <c:h val="6.7694543972194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baseline="0">
                <a:effectLst/>
              </a:rPr>
              <a:t> Proposed Method Vs. Existing Works</a:t>
            </a:r>
            <a:endParaRPr lang="en-US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Proposed Method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 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99.4</c:v>
                </c:pt>
                <c:pt idx="1">
                  <c:v>99.12</c:v>
                </c:pt>
                <c:pt idx="2">
                  <c:v>99.76</c:v>
                </c:pt>
                <c:pt idx="3">
                  <c:v>99.44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14-4A51-94F4-25EEA3D9058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Kumar &amp; Singh, (2016)         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 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92.33</c:v>
                </c:pt>
                <c:pt idx="1">
                  <c:v>85.89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14-4A51-94F4-25EEA3D9058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A. Das et al. (2022)                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 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96.21</c:v>
                </c:pt>
                <c:pt idx="1">
                  <c:v>96</c:v>
                </c:pt>
                <c:pt idx="2">
                  <c:v>95</c:v>
                </c:pt>
                <c:pt idx="3">
                  <c:v>96.41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14-4A51-94F4-25EEA3D90589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Pajouh et al. (2020)                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Accuracy </c:v>
                </c:pt>
                <c:pt idx="1">
                  <c:v>Precision </c:v>
                </c:pt>
                <c:pt idx="2">
                  <c:v>Recall </c:v>
                </c:pt>
                <c:pt idx="3">
                  <c:v>F1 Score </c:v>
                </c:pt>
              </c:strCache>
            </c:strRef>
          </c:cat>
          <c:val>
            <c:numRef>
              <c:f>Sheet1!$B$5:$E$5</c:f>
              <c:numCache>
                <c:formatCode>General</c:formatCode>
                <c:ptCount val="4"/>
                <c:pt idx="0">
                  <c:v>85.03</c:v>
                </c:pt>
                <c:pt idx="1">
                  <c:v>84.86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14-4A51-94F4-25EEA3D905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"/>
        <c:axId val="335247160"/>
        <c:axId val="335247488"/>
      </c:barChart>
      <c:catAx>
        <c:axId val="335247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247488"/>
        <c:crosses val="autoZero"/>
        <c:auto val="1"/>
        <c:lblAlgn val="ctr"/>
        <c:lblOffset val="100"/>
        <c:noMultiLvlLbl val="0"/>
      </c:catAx>
      <c:valAx>
        <c:axId val="335247488"/>
        <c:scaling>
          <c:orientation val="minMax"/>
          <c:max val="105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24716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0896267393983242"/>
          <c:y val="0.87293849138422919"/>
          <c:w val="0.61149622337719267"/>
          <c:h val="0.116920131360391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9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3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1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6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5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5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4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5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5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9A69C-B5DE-4028-8B9A-A34F4F99A0DC}" type="datetimeFigureOut">
              <a:rPr lang="en-US" smtClean="0"/>
              <a:t>8/26/2024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F314E-A259-4A3A-B840-E49B91806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9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6000">
              <a:schemeClr val="accent2">
                <a:lumMod val="45000"/>
                <a:lumOff val="55000"/>
              </a:schemeClr>
            </a:gs>
            <a:gs pos="59000">
              <a:schemeClr val="accent2">
                <a:lumMod val="45000"/>
                <a:lumOff val="55000"/>
              </a:schemeClr>
            </a:gs>
            <a:gs pos="77000">
              <a:schemeClr val="accent2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769F2ED-DC72-4CBE-AFE0-6E5E108085CD}"/>
              </a:ext>
            </a:extLst>
          </p:cNvPr>
          <p:cNvSpPr txBox="1">
            <a:spLocks/>
          </p:cNvSpPr>
          <p:nvPr/>
        </p:nvSpPr>
        <p:spPr bwMode="auto">
          <a:xfrm>
            <a:off x="2832099" y="249851"/>
            <a:ext cx="6400800" cy="55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A Project defense presentation, </a:t>
            </a:r>
            <a:r>
              <a:rPr lang="en-US" sz="2000" i="1" dirty="0">
                <a:solidFill>
                  <a:schemeClr val="tx1"/>
                </a:solidFill>
                <a:ea typeface="+mn-ea"/>
                <a:cs typeface="+mn-cs"/>
              </a:rPr>
              <a:t>titled</a:t>
            </a: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41807D-0921-4169-BE9B-6A395AA2A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099" y="649411"/>
            <a:ext cx="9144000" cy="241465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en-US" altLang="en-NG" sz="2400" b="1" dirty="0"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91CAB7C-EFDF-41F1-B5D5-DE0AC7FCD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8" y="2714942"/>
            <a:ext cx="2626020" cy="34912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200" dirty="0">
                <a:solidFill>
                  <a:schemeClr val="tx1"/>
                </a:solidFill>
                <a:ea typeface="+mn-ea"/>
                <a:cs typeface="+mn-cs"/>
              </a:rPr>
              <a:t>by: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55C159C-3FA0-4A6C-A146-6BE91FB41B51}"/>
              </a:ext>
            </a:extLst>
          </p:cNvPr>
          <p:cNvSpPr txBox="1">
            <a:spLocks/>
          </p:cNvSpPr>
          <p:nvPr/>
        </p:nvSpPr>
        <p:spPr bwMode="auto">
          <a:xfrm>
            <a:off x="1784297" y="3921096"/>
            <a:ext cx="8548914" cy="41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000" i="1" dirty="0">
                <a:solidFill>
                  <a:schemeClr val="tx1"/>
                </a:solidFill>
                <a:ea typeface="+mn-ea"/>
                <a:cs typeface="+mn-cs"/>
              </a:rPr>
              <a:t>Presented to the: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i="1" dirty="0">
              <a:solidFill>
                <a:schemeClr val="tx1"/>
              </a:solidFill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i="1" dirty="0">
              <a:solidFill>
                <a:schemeClr val="tx1"/>
              </a:solidFill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199" y="4537745"/>
            <a:ext cx="67817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DEPARTMENT OF COMPUTER SCIENCE,</a:t>
            </a:r>
          </a:p>
          <a:p>
            <a:pPr algn="ctr"/>
            <a:r>
              <a:rPr lang="en-US" sz="2400" b="1" dirty="0"/>
              <a:t>FACULTY OF SCIENCE,</a:t>
            </a:r>
          </a:p>
          <a:p>
            <a:pPr algn="ctr"/>
            <a:r>
              <a:rPr lang="en-US" sz="2400" b="1" dirty="0"/>
              <a:t>FEDERAL UNIVERSITY OF KASHERE,</a:t>
            </a:r>
          </a:p>
          <a:p>
            <a:pPr algn="ctr"/>
            <a:r>
              <a:rPr lang="en-US" sz="2400" b="1" dirty="0"/>
              <a:t>GOMBE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7135" y="6444217"/>
            <a:ext cx="1710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kern="0" dirty="0">
                <a:latin typeface="+mj-lt"/>
                <a:ea typeface="Garamond" panose="02020404030301010803" pitchFamily="18" charset="0"/>
                <a:cs typeface="Times New Roman" panose="02020603050405020304" pitchFamily="18" charset="0"/>
              </a:rPr>
              <a:t>AUGUST, 2024</a:t>
            </a:r>
            <a:endParaRPr lang="en-US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45039" y="3261750"/>
            <a:ext cx="44274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/>
              <a:t>ARCHIBONG, </a:t>
            </a:r>
            <a:r>
              <a:rPr lang="en-US" sz="2400" b="1" dirty="0" err="1"/>
              <a:t>Godswill</a:t>
            </a:r>
            <a:r>
              <a:rPr lang="en-US" sz="2400" b="1" dirty="0"/>
              <a:t> </a:t>
            </a:r>
            <a:r>
              <a:rPr lang="en-US" sz="2400" b="1" dirty="0" err="1"/>
              <a:t>Enefiok</a:t>
            </a:r>
            <a:endParaRPr lang="en-US" sz="2400" b="1" dirty="0">
              <a:latin typeface="Garamond" panose="02020404030301010803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1754" y="756328"/>
            <a:ext cx="1041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/>
              <a:t>AN EFFICIENT INTRUSION DETECTION SYSTEM FOR INTERNET OF THINGS (IOT) ENVIRONMENTS USING FEATURE SELECTION AND ENSEMBLE SOFT VOTING CLASSIFIER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653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100"/>
            <a:ext cx="10515600" cy="1384300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4627563"/>
          </a:xfrm>
        </p:spPr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Research Goal</a:t>
            </a:r>
          </a:p>
          <a:p>
            <a:r>
              <a:rPr lang="en-US" dirty="0"/>
              <a:t>Important Terminologies</a:t>
            </a:r>
          </a:p>
          <a:p>
            <a:r>
              <a:rPr lang="en-US" dirty="0"/>
              <a:t>Proposed Method</a:t>
            </a:r>
          </a:p>
          <a:p>
            <a:r>
              <a:rPr lang="en-US" dirty="0"/>
              <a:t>Result Presentation</a:t>
            </a:r>
          </a:p>
          <a:p>
            <a:r>
              <a:rPr lang="en-US" dirty="0"/>
              <a:t>Conclusion and Future Works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fld id="{F42C3EC5-B3C7-40F7-8C83-F2FE3C835FD9}" type="slidenum">
              <a:rPr lang="en-US" altLang="en-NG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/>
              <a:t>2</a:t>
            </a:fld>
            <a:endParaRPr lang="en-US" altLang="en-NG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78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461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20800"/>
            <a:ext cx="10896600" cy="4597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The rapid growth of the Internet of Things (</a:t>
            </a:r>
            <a:r>
              <a:rPr lang="en-US" sz="2400" dirty="0" err="1"/>
              <a:t>IoT</a:t>
            </a:r>
            <a:r>
              <a:rPr lang="en-US" sz="2400" dirty="0"/>
              <a:t>) has improved efficiency across various sectors but has also led to security vulnerabilities due to minimal security features in </a:t>
            </a:r>
            <a:r>
              <a:rPr lang="en-US" sz="2400" dirty="0" err="1"/>
              <a:t>IoT</a:t>
            </a:r>
            <a:r>
              <a:rPr lang="en-US" sz="2400" dirty="0"/>
              <a:t> devices. Traditional Intrusion Detection Systems (IDS) struggle to handle the vast data and evolving threats in </a:t>
            </a:r>
            <a:r>
              <a:rPr lang="en-US" sz="2400" dirty="0" err="1"/>
              <a:t>IoT</a:t>
            </a:r>
            <a:r>
              <a:rPr lang="en-US" sz="2400" dirty="0"/>
              <a:t> networks. This research proposes a machine learning-based IDS tailored for </a:t>
            </a:r>
            <a:r>
              <a:rPr lang="en-US" sz="2400" dirty="0" err="1"/>
              <a:t>IoT</a:t>
            </a:r>
            <a:r>
              <a:rPr lang="en-US" sz="2400" dirty="0"/>
              <a:t> environments, utilizing the NSL-KDD dataset. By employing feature selection through Chi-square and Mutual Information filter method, the study enhances detection accuracy using an ensemble soft voting classifier combining Random Forest, Logistic Regression, and Artificial Neural Network. The proposed method achieved a 99.40% accuracy and a 99.44% F1 score, demonstrating its effectiveness compared to previous studies.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7165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46200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50" y="1346200"/>
            <a:ext cx="11899900" cy="53848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The rapid growth of </a:t>
            </a:r>
            <a:r>
              <a:rPr lang="en-US" sz="2400" dirty="0" err="1"/>
              <a:t>IoT</a:t>
            </a:r>
            <a:r>
              <a:rPr lang="en-US" sz="2400" dirty="0"/>
              <a:t> devices has revolutionized various industries, such as healthcare, logistics, and urban development, by enabling remote management and seamless connectivity (</a:t>
            </a:r>
            <a:r>
              <a:rPr lang="en-US" sz="2400" dirty="0" err="1"/>
              <a:t>Zeddini</a:t>
            </a:r>
            <a:r>
              <a:rPr lang="en-US" sz="2400" dirty="0"/>
              <a:t> et al., 2022; Stewart et al., 2020). </a:t>
            </a:r>
          </a:p>
          <a:p>
            <a:pPr algn="just">
              <a:lnSpc>
                <a:spcPct val="100000"/>
              </a:lnSpc>
            </a:pPr>
            <a:r>
              <a:rPr lang="en-US" sz="2400" dirty="0" err="1"/>
              <a:t>IoT</a:t>
            </a:r>
            <a:r>
              <a:rPr lang="en-US" sz="2400" dirty="0"/>
              <a:t> networks consist of interconnected devices, including smartphones, laptops, and tablets, sharing data globally. However, this convenience comes with heightened vulnerability to cyber-attacks, as many </a:t>
            </a:r>
            <a:r>
              <a:rPr lang="en-US" sz="2400" dirty="0" err="1"/>
              <a:t>IoT</a:t>
            </a:r>
            <a:r>
              <a:rPr lang="en-US" sz="2400" dirty="0"/>
              <a:t> devices contain sensitive personal information, making security a major concern (</a:t>
            </a:r>
            <a:r>
              <a:rPr lang="en-US" sz="2400" dirty="0" err="1"/>
              <a:t>Aboubakar</a:t>
            </a:r>
            <a:r>
              <a:rPr lang="en-US" sz="2400" dirty="0"/>
              <a:t> et al., 2022; Williams et al., 2022).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As </a:t>
            </a:r>
            <a:r>
              <a:rPr lang="en-US" sz="2400" dirty="0" err="1"/>
              <a:t>IoT</a:t>
            </a:r>
            <a:r>
              <a:rPr lang="en-US" sz="2400" dirty="0"/>
              <a:t> usage increases, new protocols and technologies emerge, introducing more complex systems that are susceptible to intrusion (Schiller et al., 2022). Therefore, a robust security framework is essential to prevent malicious intrusions. An Intrusion Detection System (IDS) is one such solution that can detect and respond to threats in a timely manner.</a:t>
            </a:r>
          </a:p>
          <a:p>
            <a:pPr algn="just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135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97000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 of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397000"/>
            <a:ext cx="11049000" cy="47244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As </a:t>
            </a:r>
            <a:r>
              <a:rPr lang="en-US" sz="2400" dirty="0" err="1"/>
              <a:t>IoT</a:t>
            </a:r>
            <a:r>
              <a:rPr lang="en-US" sz="2400" dirty="0"/>
              <a:t> continues to expand into various sectors, the security of interconnected devices has become a critical concern as many </a:t>
            </a:r>
            <a:r>
              <a:rPr lang="en-US" sz="2400" dirty="0" err="1"/>
              <a:t>IoT</a:t>
            </a:r>
            <a:r>
              <a:rPr lang="en-US" sz="2400" dirty="0"/>
              <a:t> devices are designed with minimal security features, leaving them prone to cyber-attacks.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Traditional IDS are often inadequate in handling the vast and diverse data generated by </a:t>
            </a:r>
            <a:r>
              <a:rPr lang="en-US" sz="2400" dirty="0" err="1"/>
              <a:t>IoT</a:t>
            </a:r>
            <a:r>
              <a:rPr lang="en-US" sz="2400" dirty="0"/>
              <a:t> devices. These systems struggle to detect complex and evolving threats while adapting to the dynamic nature of </a:t>
            </a:r>
            <a:r>
              <a:rPr lang="en-US" sz="2400" dirty="0" err="1"/>
              <a:t>IoT</a:t>
            </a:r>
            <a:r>
              <a:rPr lang="en-US" sz="2400" dirty="0"/>
              <a:t> environments. 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This research addresses this gap by developing a machine learning-based IDS tailored for </a:t>
            </a:r>
            <a:r>
              <a:rPr lang="en-US" sz="2400" dirty="0" err="1"/>
              <a:t>IoT</a:t>
            </a:r>
            <a:r>
              <a:rPr lang="en-US" sz="2400" dirty="0"/>
              <a:t> environments, using the NSL-KDD dataset and an optimizing feature selection.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0678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9441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64566"/>
            <a:ext cx="11010900" cy="506163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sz="2600" dirty="0"/>
              <a:t>Develop a soft voting classifier-based intrusion detection system tailored specifically for Internet of Things environments. </a:t>
            </a: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GB" sz="2600" dirty="0"/>
              <a:t>Specifically:</a:t>
            </a:r>
            <a:endParaRPr lang="en-US" sz="2600" dirty="0"/>
          </a:p>
          <a:p>
            <a:pPr lvl="1" algn="just">
              <a:lnSpc>
                <a:spcPct val="150000"/>
              </a:lnSpc>
            </a:pPr>
            <a:r>
              <a:rPr lang="en-US" i="1" dirty="0"/>
              <a:t>Identify significant features from the NSL-KDD dataset using Mutual Information and Chi-square filter method.</a:t>
            </a:r>
          </a:p>
          <a:p>
            <a:pPr lvl="1" algn="just">
              <a:lnSpc>
                <a:spcPct val="150000"/>
              </a:lnSpc>
            </a:pPr>
            <a:r>
              <a:rPr lang="en-US" i="1" dirty="0"/>
              <a:t>Construct a predictive model using an ensemble soft voting classifier with three algorithms; Artificial Neural Network (ANN), Random Forest (RF) and Logistic Regression (LR).</a:t>
            </a:r>
          </a:p>
          <a:p>
            <a:pPr lvl="1" algn="just">
              <a:lnSpc>
                <a:spcPct val="150000"/>
              </a:lnSpc>
            </a:pPr>
            <a:r>
              <a:rPr lang="en-US" i="1" dirty="0"/>
              <a:t>Evaluate the performance of the constructed model with existing studies based on key metrics such as accuracy, precision, recall, and F1 Score.</a:t>
            </a:r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784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5712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055711"/>
            <a:ext cx="11811000" cy="5782814"/>
          </a:xfrm>
        </p:spPr>
        <p:txBody>
          <a:bodyPr/>
          <a:lstStyle/>
          <a:p>
            <a:r>
              <a:rPr lang="en-US" sz="2400" b="1" dirty="0"/>
              <a:t>Dimensionality Reduction (DR)</a:t>
            </a:r>
          </a:p>
          <a:p>
            <a:pPr marL="457200" lvl="1" indent="0" algn="just">
              <a:buNone/>
            </a:pPr>
            <a:r>
              <a:rPr lang="en-US" dirty="0"/>
              <a:t>Refers to the process of reducing the number of input variables in a dataset while retaining its essential information. This helps improve model performance by removing noise and reducing computational complexity (</a:t>
            </a:r>
            <a:r>
              <a:rPr lang="en-US" dirty="0" err="1"/>
              <a:t>Isuwa</a:t>
            </a:r>
            <a:r>
              <a:rPr lang="en-US" dirty="0"/>
              <a:t> et al., 2022a).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C:\Users\Dell 7480 7490 MIX\Pictures\Screenshots\Screenshot (15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" t="4796" r="5023"/>
          <a:stretch/>
        </p:blipFill>
        <p:spPr bwMode="auto">
          <a:xfrm>
            <a:off x="1814695" y="2683673"/>
            <a:ext cx="7666929" cy="38123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5D9C69-83C9-178D-08C3-D16D1A93BDD7}"/>
              </a:ext>
            </a:extLst>
          </p:cNvPr>
          <p:cNvSpPr txBox="1"/>
          <p:nvPr/>
        </p:nvSpPr>
        <p:spPr>
          <a:xfrm>
            <a:off x="1814695" y="6469193"/>
            <a:ext cx="779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Trend of classifier performance with the change of dimension 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Jia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 al., 2022)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2682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Terms[cont. </a:t>
            </a:r>
            <a:r>
              <a:rPr lang="en-US" altLang="en-NG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914400"/>
            <a:ext cx="11684000" cy="5943600"/>
          </a:xfrm>
        </p:spPr>
        <p:txBody>
          <a:bodyPr/>
          <a:lstStyle/>
          <a:p>
            <a:r>
              <a:rPr lang="en-US" sz="2400" dirty="0"/>
              <a:t>DR can be seen from two main perspectives:</a:t>
            </a:r>
          </a:p>
          <a:p>
            <a:pPr lvl="1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Selection: </a:t>
            </a:r>
            <a:r>
              <a:rPr lang="en-US" sz="2000" dirty="0"/>
              <a:t>involves selecting a subset of the original features that are most relevant to the problem at hand for final classification. </a:t>
            </a:r>
          </a:p>
          <a:p>
            <a:pPr lvl="1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Extraction:  </a:t>
            </a:r>
            <a:r>
              <a:rPr lang="en-US" sz="2000" dirty="0"/>
              <a:t>involves creating new features by combining or transforming the original features.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251" y="2634121"/>
            <a:ext cx="8623495" cy="341107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2EB8C3-F154-0357-FF1C-EBD6ED411EA7}"/>
              </a:ext>
            </a:extLst>
          </p:cNvPr>
          <p:cNvSpPr txBox="1"/>
          <p:nvPr/>
        </p:nvSpPr>
        <p:spPr>
          <a:xfrm>
            <a:off x="2989382" y="6266934"/>
            <a:ext cx="6213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 of Dimensionality Reduction (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Isuwa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 al., 2022a).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9378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2197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Terms[cont. </a:t>
            </a:r>
            <a:r>
              <a:rPr lang="en-US" altLang="en-NG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231" y="886935"/>
            <a:ext cx="11499166" cy="5985803"/>
          </a:xfrm>
        </p:spPr>
        <p:txBody>
          <a:bodyPr/>
          <a:lstStyle/>
          <a:p>
            <a:pPr algn="just"/>
            <a:r>
              <a:rPr lang="en-US" sz="2400" b="1" dirty="0"/>
              <a:t>Intrusion Detection System (IDS): </a:t>
            </a:r>
            <a:r>
              <a:rPr lang="en-US" sz="2400" dirty="0"/>
              <a:t>An IDS is an effective security technology, that monitors network traffic and analyses it for signs of possible intrusions (Hajj et al., 2021). </a:t>
            </a:r>
          </a:p>
          <a:p>
            <a:pPr lvl="1"/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Signature-based detection</a:t>
            </a:r>
            <a:r>
              <a:rPr lang="en-US" sz="2000" b="1" i="1" dirty="0"/>
              <a:t>:  </a:t>
            </a:r>
            <a:r>
              <a:rPr lang="en-US" sz="2000" i="1" dirty="0"/>
              <a:t>identifies incidents by comparing observed events to known signatures using simple string comparisons. </a:t>
            </a:r>
          </a:p>
          <a:p>
            <a:pPr lvl="1"/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Anomaly-based detection</a:t>
            </a:r>
            <a:r>
              <a:rPr lang="en-US" sz="2000" b="1" i="1" dirty="0"/>
              <a:t>:  </a:t>
            </a:r>
            <a:r>
              <a:rPr lang="en-US" sz="2000" i="1" dirty="0"/>
              <a:t>identifies potential threats by detecting significant deviations from normal activity, making it effective for spotting unknown threats.</a:t>
            </a:r>
          </a:p>
          <a:p>
            <a:pPr lvl="1"/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Hybrid-based detection: </a:t>
            </a:r>
            <a:r>
              <a:rPr lang="en-US" sz="2000" i="1" dirty="0"/>
              <a:t>Combination of both.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583" y="3879837"/>
            <a:ext cx="8436462" cy="1871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3071812" y="5922772"/>
            <a:ext cx="604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of an IDS in a network (Hajj et al., 2021). </a:t>
            </a:r>
          </a:p>
          <a:p>
            <a:pPr lvl="1"/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3850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9993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Method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2600" y="1041400"/>
            <a:ext cx="11404600" cy="5689600"/>
          </a:xfrm>
        </p:spPr>
        <p:txBody>
          <a:bodyPr/>
          <a:lstStyle/>
          <a:p>
            <a:r>
              <a:rPr lang="en-US" sz="2400" dirty="0"/>
              <a:t>The proposed method is organized into several stages.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14118"/>
            <a:ext cx="5727700" cy="3700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1111250" y="5401014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and preprocessing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6479614" y="1896484"/>
            <a:ext cx="5189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Dataset Description: </a:t>
            </a:r>
            <a:r>
              <a:rPr lang="en-US" sz="2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SimSun" panose="02010600030101010101" pitchFamily="2" charset="-122"/>
              </a:rPr>
              <a:t>[publicly available]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52942"/>
              </p:ext>
            </p:extLst>
          </p:nvPr>
        </p:nvGraphicFramePr>
        <p:xfrm>
          <a:off x="6184900" y="2628900"/>
          <a:ext cx="5930900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0722">
                  <a:extLst>
                    <a:ext uri="{9D8B030D-6E8A-4147-A177-3AD203B41FA5}">
                      <a16:colId xmlns:a16="http://schemas.microsoft.com/office/drawing/2014/main" val="2784273820"/>
                    </a:ext>
                  </a:extLst>
                </a:gridCol>
                <a:gridCol w="2304710">
                  <a:extLst>
                    <a:ext uri="{9D8B030D-6E8A-4147-A177-3AD203B41FA5}">
                      <a16:colId xmlns:a16="http://schemas.microsoft.com/office/drawing/2014/main" val="549481476"/>
                    </a:ext>
                  </a:extLst>
                </a:gridCol>
                <a:gridCol w="1665468">
                  <a:extLst>
                    <a:ext uri="{9D8B030D-6E8A-4147-A177-3AD203B41FA5}">
                      <a16:colId xmlns:a16="http://schemas.microsoft.com/office/drawing/2014/main" val="345024630"/>
                    </a:ext>
                  </a:extLst>
                </a:gridCol>
              </a:tblGrid>
              <a:tr h="4199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NSL-KDD Dataset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Instances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Features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374208"/>
                  </a:ext>
                </a:extLst>
              </a:tr>
              <a:tr h="3792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spc="-5" dirty="0">
                          <a:effectLst/>
                        </a:rPr>
                        <a:t>Training set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125,973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41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59202019"/>
                  </a:ext>
                </a:extLst>
              </a:tr>
              <a:tr h="4580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spc="-5">
                          <a:effectLst/>
                        </a:rPr>
                        <a:t>Testing set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spc="-5" dirty="0">
                          <a:effectLst/>
                        </a:rPr>
                        <a:t>22,544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</a:rPr>
                        <a:t>41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98639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6156325" y="4231464"/>
            <a:ext cx="5594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dataset contains a multiclass label, which I will convert to a binary class as part of my preprocessing, categorizing it  into "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</a:t>
            </a:r>
            <a:r>
              <a:rPr lang="en-US" sz="2400" dirty="0"/>
              <a:t>" and "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abnormal</a:t>
            </a:r>
            <a:r>
              <a:rPr lang="en-US" sz="2400" dirty="0"/>
              <a:t>.</a:t>
            </a:r>
            <a:endParaRPr lang="en-US" sz="2400" spc="-5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SimSun" panose="02010600030101010101" pitchFamily="2" charset="-122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20630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0301"/>
          </a:xfrm>
        </p:spPr>
        <p:txBody>
          <a:bodyPr>
            <a:normAutofit/>
          </a:bodyPr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Methods [cont. </a:t>
            </a:r>
            <a:r>
              <a:rPr lang="en-US" altLang="en-N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7100"/>
            <a:ext cx="10515600" cy="582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30301"/>
            <a:ext cx="7391400" cy="4546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2362200" y="5892800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with Chi-Square and Mutual Information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3633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13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Methods [cont. </a:t>
            </a:r>
            <a:r>
              <a:rPr lang="en-US" altLang="en-N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3600"/>
            <a:ext cx="12192000" cy="5994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9" y="1162650"/>
            <a:ext cx="7279021" cy="476250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544411"/>
              </p:ext>
            </p:extLst>
          </p:nvPr>
        </p:nvGraphicFramePr>
        <p:xfrm>
          <a:off x="7620000" y="1880886"/>
          <a:ext cx="4368800" cy="44001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11300">
                  <a:extLst>
                    <a:ext uri="{9D8B030D-6E8A-4147-A177-3AD203B41FA5}">
                      <a16:colId xmlns:a16="http://schemas.microsoft.com/office/drawing/2014/main" val="265444599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97060031"/>
                    </a:ext>
                  </a:extLst>
                </a:gridCol>
              </a:tblGrid>
              <a:tr h="3698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RF Classifier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n_estimator  = 150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860783"/>
                  </a:ext>
                </a:extLst>
              </a:tr>
              <a:tr h="3698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LR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max_iter = 1000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106565"/>
                  </a:ext>
                </a:extLst>
              </a:tr>
              <a:tr h="277717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ANN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hidden_layer_sizes = (32,8), </a:t>
                      </a: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early_stopping = False, </a:t>
                      </a: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solver = ‘</a:t>
                      </a:r>
                      <a:r>
                        <a:rPr lang="en-US" sz="1800" dirty="0" err="1">
                          <a:effectLst/>
                        </a:rPr>
                        <a:t>adam</a:t>
                      </a:r>
                      <a:r>
                        <a:rPr lang="en-US" sz="1800" dirty="0">
                          <a:effectLst/>
                        </a:rPr>
                        <a:t>, neserovs_momemtum = True, momentum = 0.90,</a:t>
                      </a:r>
                    </a:p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max_iter = 500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406982"/>
                  </a:ext>
                </a:extLst>
              </a:tr>
              <a:tr h="7503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Other Settings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train_test_split = 80:20, random_state = 42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198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7772400" y="1285186"/>
            <a:ext cx="3706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>
              <a:spcBef>
                <a:spcPts val="1000"/>
              </a:spcBef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 Values and Settings: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1562100" y="6046402"/>
            <a:ext cx="414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and Evaluation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694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02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 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130300"/>
            <a:ext cx="11938000" cy="5727700"/>
          </a:xfrm>
        </p:spPr>
        <p:txBody>
          <a:bodyPr/>
          <a:lstStyle/>
          <a:p>
            <a:r>
              <a:rPr lang="en-US" sz="2400" dirty="0"/>
              <a:t>Results are presented in tables with values in percentage and using confusion matrix.</a:t>
            </a:r>
          </a:p>
          <a:p>
            <a:endParaRPr lang="en-US" sz="2400" dirty="0"/>
          </a:p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from experiment with Feature Selection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51291"/>
              </p:ext>
            </p:extLst>
          </p:nvPr>
        </p:nvGraphicFramePr>
        <p:xfrm>
          <a:off x="381000" y="2489197"/>
          <a:ext cx="5372100" cy="42164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342020">
                  <a:extLst>
                    <a:ext uri="{9D8B030D-6E8A-4147-A177-3AD203B41FA5}">
                      <a16:colId xmlns:a16="http://schemas.microsoft.com/office/drawing/2014/main" val="3745775607"/>
                    </a:ext>
                  </a:extLst>
                </a:gridCol>
                <a:gridCol w="3030080">
                  <a:extLst>
                    <a:ext uri="{9D8B030D-6E8A-4147-A177-3AD203B41FA5}">
                      <a16:colId xmlns:a16="http://schemas.microsoft.com/office/drawing/2014/main" val="124504670"/>
                    </a:ext>
                  </a:extLst>
                </a:gridCol>
              </a:tblGrid>
              <a:tr h="8432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00">
                          <a:effectLst/>
                        </a:rPr>
                        <a:t>Metric  </a:t>
                      </a:r>
                      <a:endParaRPr lang="en-US" sz="1800" b="1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Value (%)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152461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Accuracy    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99.40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023433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Precision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99.12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996239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Recall 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99.76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231746"/>
                  </a:ext>
                </a:extLst>
              </a:tr>
              <a:tr h="84328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F1 Score   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99.44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445400"/>
                  </a:ext>
                </a:extLst>
              </a:tr>
            </a:tbl>
          </a:graphicData>
        </a:graphic>
      </p:graphicFrame>
      <p:pic>
        <p:nvPicPr>
          <p:cNvPr id="5" name="Picture 4" descr="C:\Users\LENOVO\Pictures\Screenshots\Screenshot (49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" r="6583"/>
          <a:stretch/>
        </p:blipFill>
        <p:spPr bwMode="auto">
          <a:xfrm>
            <a:off x="5892800" y="2501898"/>
            <a:ext cx="6299200" cy="42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8315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 Presentation [</a:t>
            </a:r>
            <a:r>
              <a:rPr lang="en-US" altLang="en-NG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cont. 1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914400"/>
            <a:ext cx="11950700" cy="5943600"/>
          </a:xfrm>
        </p:spPr>
        <p:txBody>
          <a:bodyPr/>
          <a:lstStyle/>
          <a:p>
            <a:pPr lv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from experiment with Entire Dataset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286761"/>
              </p:ext>
            </p:extLst>
          </p:nvPr>
        </p:nvGraphicFramePr>
        <p:xfrm>
          <a:off x="421640" y="1670514"/>
          <a:ext cx="4947920" cy="38666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3503667706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148385799"/>
                    </a:ext>
                  </a:extLst>
                </a:gridCol>
              </a:tblGrid>
              <a:tr h="7733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Metric  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Value (%)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970865"/>
                  </a:ext>
                </a:extLst>
              </a:tr>
              <a:tr h="7733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Accuracy   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99.28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943450"/>
                  </a:ext>
                </a:extLst>
              </a:tr>
              <a:tr h="7733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Precision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99.01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815467"/>
                  </a:ext>
                </a:extLst>
              </a:tr>
              <a:tr h="7733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Recall 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99.63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976678"/>
                  </a:ext>
                </a:extLst>
              </a:tr>
              <a:tr h="7733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F1 Score    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99.32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2809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6F0852-B8F2-5DAD-A60C-3A3CC11AF532}"/>
              </a:ext>
            </a:extLst>
          </p:cNvPr>
          <p:cNvSpPr txBox="1"/>
          <p:nvPr/>
        </p:nvSpPr>
        <p:spPr>
          <a:xfrm>
            <a:off x="5842000" y="5943878"/>
            <a:ext cx="6248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Analysis Between Experiment with Feature Selection and Entire dataset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354387470"/>
              </p:ext>
            </p:extLst>
          </p:nvPr>
        </p:nvGraphicFramePr>
        <p:xfrm>
          <a:off x="5740400" y="1397000"/>
          <a:ext cx="6451600" cy="4445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9265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00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 Presentation [</a:t>
            </a:r>
            <a:r>
              <a:rPr lang="en-US" altLang="en-NG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cont. 2</a:t>
            </a:r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0100"/>
            <a:ext cx="12192000" cy="6057900"/>
          </a:xfrm>
        </p:spPr>
        <p:txBody>
          <a:bodyPr/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of the Proposed Method with Existing Studies in the Literature</a:t>
            </a:r>
          </a:p>
          <a:p>
            <a:pPr lvl="1"/>
            <a:r>
              <a:rPr lang="en-US" sz="2000" i="1" dirty="0"/>
              <a:t>The basis of Comparison is the use of NSL-KDD Dataset and Feature Selection.</a:t>
            </a:r>
          </a:p>
          <a:p>
            <a:pPr lvl="1"/>
            <a:r>
              <a:rPr lang="en-US" sz="2000" i="1" dirty="0"/>
              <a:t>Dash represent missing values in cases where the author did not employ those matrix in their study.</a:t>
            </a:r>
          </a:p>
          <a:p>
            <a:pPr lvl="1"/>
            <a:endParaRPr lang="en-US" sz="2000" i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94700"/>
              </p:ext>
            </p:extLst>
          </p:nvPr>
        </p:nvGraphicFramePr>
        <p:xfrm>
          <a:off x="427037" y="2082797"/>
          <a:ext cx="5834063" cy="4648201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91710">
                  <a:extLst>
                    <a:ext uri="{9D8B030D-6E8A-4147-A177-3AD203B41FA5}">
                      <a16:colId xmlns:a16="http://schemas.microsoft.com/office/drawing/2014/main" val="2090648650"/>
                    </a:ext>
                  </a:extLst>
                </a:gridCol>
                <a:gridCol w="1121808">
                  <a:extLst>
                    <a:ext uri="{9D8B030D-6E8A-4147-A177-3AD203B41FA5}">
                      <a16:colId xmlns:a16="http://schemas.microsoft.com/office/drawing/2014/main" val="770739676"/>
                    </a:ext>
                  </a:extLst>
                </a:gridCol>
                <a:gridCol w="1121808">
                  <a:extLst>
                    <a:ext uri="{9D8B030D-6E8A-4147-A177-3AD203B41FA5}">
                      <a16:colId xmlns:a16="http://schemas.microsoft.com/office/drawing/2014/main" val="2987888242"/>
                    </a:ext>
                  </a:extLst>
                </a:gridCol>
                <a:gridCol w="938480">
                  <a:extLst>
                    <a:ext uri="{9D8B030D-6E8A-4147-A177-3AD203B41FA5}">
                      <a16:colId xmlns:a16="http://schemas.microsoft.com/office/drawing/2014/main" val="1223847647"/>
                    </a:ext>
                  </a:extLst>
                </a:gridCol>
                <a:gridCol w="1060257">
                  <a:extLst>
                    <a:ext uri="{9D8B030D-6E8A-4147-A177-3AD203B41FA5}">
                      <a16:colId xmlns:a16="http://schemas.microsoft.com/office/drawing/2014/main" val="3232431394"/>
                    </a:ext>
                  </a:extLst>
                </a:gridCol>
              </a:tblGrid>
              <a:tr h="965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Study       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Accuracy (%)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Precision (%) 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Recall (%)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F1 Score (%)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030270"/>
                  </a:ext>
                </a:extLst>
              </a:tr>
              <a:tr h="8754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Proposed Method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>
                          <a:effectLst/>
                        </a:rPr>
                        <a:t>99.40</a:t>
                      </a:r>
                      <a:endParaRPr lang="en-US" sz="1800" b="1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99.12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99.76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b="1" kern="100" dirty="0">
                          <a:effectLst/>
                        </a:rPr>
                        <a:t>99.44</a:t>
                      </a:r>
                      <a:endParaRPr lang="en-US" sz="1800" b="1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30743"/>
                  </a:ext>
                </a:extLst>
              </a:tr>
              <a:tr h="965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Kumar &amp; Singh, (2016)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92.33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85.89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98.00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99.00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192184"/>
                  </a:ext>
                </a:extLst>
              </a:tr>
              <a:tr h="8754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Das et al., (2022)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96.21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96.00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95.00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96.41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312499"/>
                  </a:ext>
                </a:extLst>
              </a:tr>
              <a:tr h="9657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Pajouh et al., (2020)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>
                          <a:effectLst/>
                        </a:rPr>
                        <a:t>85.03</a:t>
                      </a:r>
                      <a:endParaRPr lang="en-US" sz="1800" kern="10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84.86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__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800" kern="100" dirty="0">
                          <a:effectLst/>
                        </a:rPr>
                        <a:t>__</a:t>
                      </a:r>
                      <a:endParaRPr lang="en-US" sz="1800" kern="100" dirty="0"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808065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660070853"/>
              </p:ext>
            </p:extLst>
          </p:nvPr>
        </p:nvGraphicFramePr>
        <p:xfrm>
          <a:off x="6261100" y="1955796"/>
          <a:ext cx="5930900" cy="4902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842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826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700"/>
            <a:ext cx="10515600" cy="4889500"/>
          </a:xfrm>
        </p:spPr>
        <p:txBody>
          <a:bodyPr/>
          <a:lstStyle/>
          <a:p>
            <a:pPr algn="just"/>
            <a:r>
              <a:rPr lang="en-US" dirty="0"/>
              <a:t> </a:t>
            </a:r>
            <a:r>
              <a:rPr lang="en-US" sz="2400" dirty="0"/>
              <a:t>This research successfully developed a robust Intrusion Detection System (IDS) based on a soft voting classifier to address the security challenges in </a:t>
            </a:r>
            <a:r>
              <a:rPr lang="en-US" sz="2400" dirty="0" err="1"/>
              <a:t>IoT</a:t>
            </a:r>
            <a:r>
              <a:rPr lang="en-US" sz="2400" dirty="0"/>
              <a:t> networks. The feature selection process significantly enhanced the IDS's performance, achieving an impressive 99.40% accuracy and 99.44% F1 score, outperforming the method using the entire dataset. </a:t>
            </a:r>
          </a:p>
          <a:p>
            <a:pPr algn="just"/>
            <a:r>
              <a:rPr lang="en-US" sz="2400" dirty="0"/>
              <a:t>The integration of Artificial Neural Networks (ANN), Random Forest (RF), and Logistic Regression (LR) within the soft voting framework provided comprehensive detection capabilities, making the system adaptable to evolving </a:t>
            </a:r>
            <a:r>
              <a:rPr lang="en-US" sz="2400" dirty="0" err="1"/>
              <a:t>IoT</a:t>
            </a:r>
            <a:r>
              <a:rPr lang="en-US" sz="2400" dirty="0"/>
              <a:t> threats. This study offers valuable insights and a practical framework for advancing IDS in </a:t>
            </a:r>
            <a:r>
              <a:rPr lang="en-US" sz="2400" dirty="0" err="1"/>
              <a:t>IoT</a:t>
            </a:r>
            <a:r>
              <a:rPr lang="en-US" sz="2400" dirty="0"/>
              <a:t> security, ensuring the protection and reliability of these networks.</a:t>
            </a:r>
          </a:p>
          <a:p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3326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842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574800"/>
            <a:ext cx="10401300" cy="49911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Enhance the soft voting classifier by incorporating additional machine learning algorithms like Support Vector Machines (SVM) or Gradient Boosting Machines (GBM).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Implement periodic retraining of the model with new datasets or integrate adaptive learning techniques.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Test the developed IDS in real-world </a:t>
            </a:r>
            <a:r>
              <a:rPr lang="en-US" sz="2400" dirty="0" err="1"/>
              <a:t>IoT</a:t>
            </a:r>
            <a:r>
              <a:rPr lang="en-US" sz="2400" dirty="0"/>
              <a:t> environments to validate its effectiveness and adaptability.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610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7899"/>
          </a:xfrm>
        </p:spPr>
        <p:txBody>
          <a:bodyPr/>
          <a:lstStyle/>
          <a:p>
            <a:pPr algn="ctr"/>
            <a:r>
              <a:rPr lang="en-US" altLang="en-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977900"/>
            <a:ext cx="11861800" cy="5880100"/>
          </a:xfrm>
        </p:spPr>
        <p:txBody>
          <a:bodyPr>
            <a:normAutofit/>
          </a:bodyPr>
          <a:lstStyle/>
          <a:p>
            <a:r>
              <a:rPr lang="en-US" sz="1800" dirty="0" err="1"/>
              <a:t>Aboubakar</a:t>
            </a:r>
            <a:r>
              <a:rPr lang="en-US" sz="1800" dirty="0"/>
              <a:t>, M., </a:t>
            </a:r>
            <a:r>
              <a:rPr lang="en-US" sz="1800" dirty="0" err="1"/>
              <a:t>Kellil</a:t>
            </a:r>
            <a:r>
              <a:rPr lang="en-US" sz="1800" dirty="0"/>
              <a:t>, M., &amp; Roux, P. (2022). A review of </a:t>
            </a:r>
            <a:r>
              <a:rPr lang="en-US" sz="1800" dirty="0" err="1"/>
              <a:t>IoT</a:t>
            </a:r>
            <a:r>
              <a:rPr lang="en-US" sz="1800" dirty="0"/>
              <a:t> network management: Current status and perspectives. In Journal of King Saud University - Computer and Information Sciences (Vol. 34, Issue 7). https://doi.org/10.1016/j.jksuci.2021.03.006</a:t>
            </a:r>
          </a:p>
          <a:p>
            <a:r>
              <a:rPr lang="en-US" sz="1800" dirty="0"/>
              <a:t>Das, A., </a:t>
            </a:r>
            <a:r>
              <a:rPr lang="en-US" sz="1800" dirty="0" err="1"/>
              <a:t>Pramod</a:t>
            </a:r>
            <a:r>
              <a:rPr lang="en-US" sz="1800" dirty="0"/>
              <a:t>, &amp; </a:t>
            </a:r>
            <a:r>
              <a:rPr lang="en-US" sz="1800" dirty="0" err="1"/>
              <a:t>Sunitha</a:t>
            </a:r>
            <a:r>
              <a:rPr lang="en-US" sz="1800" dirty="0"/>
              <a:t>, B. S. (2022). An Efficient Feature Selection Approach for Intrusion Detection System using Decision Tree. International Journal of Advanced Computer Science and Applications, 13(2). https://doi.org/10.14569/IJACSA.2022.0130276</a:t>
            </a:r>
          </a:p>
          <a:p>
            <a:r>
              <a:rPr lang="en-US" sz="1800" dirty="0"/>
              <a:t>Hajj, S., El </a:t>
            </a:r>
            <a:r>
              <a:rPr lang="en-US" sz="1800" dirty="0" err="1"/>
              <a:t>Sibai</a:t>
            </a:r>
            <a:r>
              <a:rPr lang="en-US" sz="1800" dirty="0"/>
              <a:t>, R., </a:t>
            </a:r>
            <a:r>
              <a:rPr lang="en-US" sz="1800" dirty="0" err="1"/>
              <a:t>Bou</a:t>
            </a:r>
            <a:r>
              <a:rPr lang="en-US" sz="1800" dirty="0"/>
              <a:t> </a:t>
            </a:r>
            <a:r>
              <a:rPr lang="en-US" sz="1800" dirty="0" err="1"/>
              <a:t>Abdo</a:t>
            </a:r>
            <a:r>
              <a:rPr lang="en-US" sz="1800" dirty="0"/>
              <a:t>, J., </a:t>
            </a:r>
            <a:r>
              <a:rPr lang="en-US" sz="1800" dirty="0" err="1"/>
              <a:t>Demerjian</a:t>
            </a:r>
            <a:r>
              <a:rPr lang="en-US" sz="1800" dirty="0"/>
              <a:t>, J., </a:t>
            </a:r>
            <a:r>
              <a:rPr lang="en-US" sz="1800" dirty="0" err="1"/>
              <a:t>Makhoul</a:t>
            </a:r>
            <a:r>
              <a:rPr lang="en-US" sz="1800" dirty="0"/>
              <a:t>, A., &amp; </a:t>
            </a:r>
            <a:r>
              <a:rPr lang="en-US" sz="1800" dirty="0" err="1"/>
              <a:t>Guyeux</a:t>
            </a:r>
            <a:r>
              <a:rPr lang="en-US" sz="1800" dirty="0"/>
              <a:t>, C. (2021). Anomaly-based intrusion detection systems: The requirements, methods, measurements, and datasets. Transactions on Emerging Telecommunications Technologies, 32(4). https://doi.org/10.1002/ett.4240</a:t>
            </a:r>
          </a:p>
          <a:p>
            <a:r>
              <a:rPr lang="en-US" sz="1800" dirty="0"/>
              <a:t>Kumar, K., &amp; Singh, J. (2016). Network Intrusion Detection with Feature Selection Techniques using Machine-Learning Algorithms. International Journal of Computer Applications, 150(12). https://doi.org/10.5120/ijca2016910764</a:t>
            </a:r>
          </a:p>
          <a:p>
            <a:r>
              <a:rPr lang="en-US" sz="1800" dirty="0" err="1"/>
              <a:t>Isuwa</a:t>
            </a:r>
            <a:r>
              <a:rPr lang="en-US" sz="1800" dirty="0"/>
              <a:t>, J., </a:t>
            </a:r>
            <a:r>
              <a:rPr lang="en-US" sz="1800" dirty="0" err="1"/>
              <a:t>Abdullahi</a:t>
            </a:r>
            <a:r>
              <a:rPr lang="en-US" sz="1800" dirty="0"/>
              <a:t>, M., Sahabi Ali, Y., &amp; </a:t>
            </a:r>
            <a:r>
              <a:rPr lang="en-US" sz="1800" dirty="0" err="1"/>
              <a:t>Abdulrahim</a:t>
            </a:r>
            <a:r>
              <a:rPr lang="en-US" sz="1800" dirty="0"/>
              <a:t>, A. (2022a). Hybrid particle swarm optimization with sequential one point flipping algorithm for feature selection. Concurrency and Computation: Practice and Experience, 34(25). https://doi.org/10.1002/cpe.7239</a:t>
            </a:r>
          </a:p>
          <a:p>
            <a:r>
              <a:rPr lang="en-US" sz="1800" dirty="0"/>
              <a:t>Schiller, E., </a:t>
            </a:r>
            <a:r>
              <a:rPr lang="en-US" sz="1800" dirty="0" err="1"/>
              <a:t>Aidoo</a:t>
            </a:r>
            <a:r>
              <a:rPr lang="en-US" sz="1800" dirty="0"/>
              <a:t>, A., Fuhrer, J., Stahl, J., </a:t>
            </a:r>
            <a:r>
              <a:rPr lang="en-US" sz="1800" dirty="0" err="1"/>
              <a:t>Ziörjen</a:t>
            </a:r>
            <a:r>
              <a:rPr lang="en-US" sz="1800" dirty="0"/>
              <a:t>, M., &amp; Stiller, B. (2022). Landscape of </a:t>
            </a:r>
            <a:r>
              <a:rPr lang="en-US" sz="1800" dirty="0" err="1"/>
              <a:t>IoT</a:t>
            </a:r>
            <a:r>
              <a:rPr lang="en-US" sz="1800" dirty="0"/>
              <a:t> security. In Computer Science Review (Vol. 44). https://doi.org/10.1016/j.cosrev.2022.100467</a:t>
            </a:r>
          </a:p>
          <a:p>
            <a:r>
              <a:rPr lang="en-US" sz="1800" dirty="0" err="1"/>
              <a:t>Zeddini</a:t>
            </a:r>
            <a:r>
              <a:rPr lang="en-US" sz="1800" dirty="0"/>
              <a:t>, B., </a:t>
            </a:r>
            <a:r>
              <a:rPr lang="en-US" sz="1800" dirty="0" err="1"/>
              <a:t>Maachaoui</a:t>
            </a:r>
            <a:r>
              <a:rPr lang="en-US" sz="1800" dirty="0"/>
              <a:t>, M., &amp; </a:t>
            </a:r>
            <a:r>
              <a:rPr lang="en-US" sz="1800" dirty="0" err="1"/>
              <a:t>Inedjaren</a:t>
            </a:r>
            <a:r>
              <a:rPr lang="en-US" sz="1800" dirty="0"/>
              <a:t>, Y. (2022a). Security Threats in Intelligent Transportation Systems and Their Risk Levels. Risks, 10(5). https://doi.org/10.3390/risks10050091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AC0B8E-2C50-B9FF-EB59-C37CD7008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4582" y="203200"/>
            <a:ext cx="2133600" cy="36512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NG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614040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3575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56277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1757</TotalTime>
  <Words>1702</Words>
  <Application>Microsoft Office PowerPoint</Application>
  <PresentationFormat>Widescreen</PresentationFormat>
  <Paragraphs>199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Garamond</vt:lpstr>
      <vt:lpstr>Times New Roman</vt:lpstr>
      <vt:lpstr>Wingdings</vt:lpstr>
      <vt:lpstr>Office Theme</vt:lpstr>
      <vt:lpstr> </vt:lpstr>
      <vt:lpstr>Presentation Contents</vt:lpstr>
      <vt:lpstr>Abstract</vt:lpstr>
      <vt:lpstr>Introduction</vt:lpstr>
      <vt:lpstr>Statement of Problem</vt:lpstr>
      <vt:lpstr>Research Goal</vt:lpstr>
      <vt:lpstr>Important Terms</vt:lpstr>
      <vt:lpstr>Important Terms[cont. 1]</vt:lpstr>
      <vt:lpstr>Important Terms[cont. 2]</vt:lpstr>
      <vt:lpstr>Proposed Method</vt:lpstr>
      <vt:lpstr>Proposed Methods [cont. 1]</vt:lpstr>
      <vt:lpstr>Proposed Methods [cont. 2]</vt:lpstr>
      <vt:lpstr>Result Presentation</vt:lpstr>
      <vt:lpstr>Result Presentation [cont. 1]</vt:lpstr>
      <vt:lpstr>Result Presentation [cont. 2]</vt:lpstr>
      <vt:lpstr>Conclusion</vt:lpstr>
      <vt:lpstr>Future Works</vt:lpstr>
      <vt:lpstr>References</vt:lpstr>
      <vt:lpstr>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Muhammad Abubakar Ahmad</cp:lastModifiedBy>
  <cp:revision>71</cp:revision>
  <dcterms:created xsi:type="dcterms:W3CDTF">2024-08-22T15:37:26Z</dcterms:created>
  <dcterms:modified xsi:type="dcterms:W3CDTF">2024-08-26T09:24:08Z</dcterms:modified>
</cp:coreProperties>
</file>